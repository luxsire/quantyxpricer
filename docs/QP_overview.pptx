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0" r:id="rId5"/>
    <p:sldId id="261" r:id="rId6"/>
    <p:sldId id="262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8152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82391" y="739342"/>
            <a:ext cx="8083296" cy="11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180"/>
              </a:lnSpc>
              <a:buNone/>
            </a:pPr>
            <a:r>
              <a:rPr lang="en-US" sz="6120" b="1" dirty="0" err="1">
                <a:solidFill>
                  <a:srgbClr val="C9A84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Quantyx</a:t>
            </a:r>
            <a:r>
              <a:rPr lang="en-US" sz="6120" b="1" dirty="0">
                <a:solidFill>
                  <a:srgbClr val="C9A84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</a:t>
            </a:r>
            <a:r>
              <a:rPr lang="en-US" sz="6120" b="1" dirty="0" err="1">
                <a:solidFill>
                  <a:srgbClr val="C9A84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Pricer</a:t>
            </a:r>
            <a:endParaRPr lang="en-US" sz="6120" dirty="0"/>
          </a:p>
        </p:txBody>
      </p:sp>
      <p:sp>
        <p:nvSpPr>
          <p:cNvPr id="4" name="Text 2"/>
          <p:cNvSpPr/>
          <p:nvPr/>
        </p:nvSpPr>
        <p:spPr>
          <a:xfrm>
            <a:off x="530352" y="3544342"/>
            <a:ext cx="8083296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40"/>
              </a:lnSpc>
              <a:buNone/>
            </a:pPr>
            <a:r>
              <a:rPr lang="en-US" sz="1560" dirty="0">
                <a:solidFill>
                  <a:srgbClr val="9FB0C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Business-friendly platform overview</a:t>
            </a:r>
            <a:endParaRPr lang="en-US" sz="1560" dirty="0"/>
          </a:p>
        </p:txBody>
      </p:sp>
      <p:sp>
        <p:nvSpPr>
          <p:cNvPr id="5" name="Text 3"/>
          <p:cNvSpPr/>
          <p:nvPr/>
        </p:nvSpPr>
        <p:spPr>
          <a:xfrm>
            <a:off x="914400" y="4146203"/>
            <a:ext cx="7315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 non-technical presentation of the pricing platform, its product coverage, architecture, and why it matters for portfolio teams, structuring desks, financial centers and product control.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-901005"/>
            <a:ext cx="1158329" cy="316111"/>
          </a:xfrm>
          <a:prstGeom prst="roundRect">
            <a:avLst>
              <a:gd name="adj" fmla="val 289236553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lIns="114300" tIns="114300" rIns="114300" bIns="114300" rtlCol="0" anchor="t">
            <a:normAutofit fontScale="25000" lnSpcReduction="2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9FB0C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What it is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599" y="882769"/>
            <a:ext cx="3848100" cy="2107966"/>
          </a:xfrm>
          <a:prstGeom prst="roundRect">
            <a:avLst>
              <a:gd name="adj" fmla="val 64538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686300" y="882769"/>
            <a:ext cx="3848100" cy="2107966"/>
          </a:xfrm>
          <a:prstGeom prst="roundRect">
            <a:avLst>
              <a:gd name="adj" fmla="val 64538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17002" y="3101199"/>
            <a:ext cx="3848100" cy="1887038"/>
          </a:xfrm>
          <a:prstGeom prst="roundRect">
            <a:avLst>
              <a:gd name="adj" fmla="val 64538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738339" y="3101199"/>
            <a:ext cx="3848100" cy="1887038"/>
          </a:xfrm>
          <a:prstGeom prst="roundRect">
            <a:avLst>
              <a:gd name="adj" fmla="val 64538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61639" y="-41970"/>
            <a:ext cx="7924800" cy="94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400"/>
              </a:lnSpc>
              <a:buNone/>
            </a:pPr>
            <a:r>
              <a:rPr lang="en-US" sz="2400" b="1" dirty="0">
                <a:solidFill>
                  <a:srgbClr val="F8FAF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One platform for fixed-income and structured products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39967" y="1205118"/>
            <a:ext cx="29873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9A84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Core idea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7864" y="1539736"/>
            <a:ext cx="32956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QuantyxPricer is a QuantLib-based pricing workspace that routes each instrument to the right model using a simple </a:t>
            </a:r>
            <a:r>
              <a:rPr lang="en-US" sz="1350" dirty="0">
                <a:solidFill>
                  <a:srgbClr val="E8D5B5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</a:t>
            </a:r>
            <a:r>
              <a:rPr lang="en-US" sz="135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field in its JSON definition.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172837" y="1207937"/>
            <a:ext cx="33615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9A84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Technology stack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62525" y="1545665"/>
            <a:ext cx="329565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platform combines Python, QuantLib, FastAPI, React, and MySQL, giving it both pricing-engine depth and operational usability.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72324" y="3365707"/>
            <a:ext cx="33615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9A84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How it is used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37864" y="3751338"/>
            <a:ext cx="32956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It prices instruments, reads benchmark curves, stores asset definitions, and exposes pricing and data-management workflows through REST APIs and a frontend.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172837" y="3365707"/>
            <a:ext cx="33615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9A84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Scale today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14564" y="3751338"/>
            <a:ext cx="329565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documentation describes 17 priceable instrument types across 12 model files and a backend with more than 20 endpoints.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-710505"/>
            <a:ext cx="1665238" cy="316111"/>
          </a:xfrm>
          <a:prstGeom prst="roundRect">
            <a:avLst>
              <a:gd name="adj" fmla="val 289236553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lIns="114300" tIns="114300" rIns="114300" bIns="114300" rtlCol="0" anchor="t">
            <a:normAutofit fontScale="25000" lnSpcReduction="2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9FB0C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Business scope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86705"/>
            <a:ext cx="2514600" cy="2190750"/>
          </a:xfrm>
          <a:prstGeom prst="roundRect">
            <a:avLst>
              <a:gd name="adj" fmla="val 66783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314700" y="786705"/>
            <a:ext cx="2514600" cy="2190750"/>
          </a:xfrm>
          <a:prstGeom prst="roundRect">
            <a:avLst>
              <a:gd name="adj" fmla="val 66783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19800" y="786705"/>
            <a:ext cx="2514600" cy="2190750"/>
          </a:xfrm>
          <a:prstGeom prst="roundRect">
            <a:avLst>
              <a:gd name="adj" fmla="val 66783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3091755"/>
            <a:ext cx="2514600" cy="1975545"/>
          </a:xfrm>
          <a:prstGeom prst="roundRect">
            <a:avLst>
              <a:gd name="adj" fmla="val 58182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314700" y="3130897"/>
            <a:ext cx="2514600" cy="1936403"/>
          </a:xfrm>
          <a:prstGeom prst="roundRect">
            <a:avLst>
              <a:gd name="adj" fmla="val 58182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19800" y="3108638"/>
            <a:ext cx="2514600" cy="1975545"/>
          </a:xfrm>
          <a:prstGeom prst="roundRect">
            <a:avLst>
              <a:gd name="adj" fmla="val 58182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600" y="-18157"/>
            <a:ext cx="8083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F8FAF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kinds of products can it handle?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847725" y="1024830"/>
            <a:ext cx="207911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🏦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847725" y="1482030"/>
            <a:ext cx="20791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Rate-based bonds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47725" y="1824930"/>
            <a:ext cx="20383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Fixed, floating, callable, and investment-grade bonds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52825" y="1024830"/>
            <a:ext cx="207911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🛡️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3552825" y="1482030"/>
            <a:ext cx="20791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Credit products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552825" y="1824930"/>
            <a:ext cx="20383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CLNs plus AT1 or CoCo instruments with extension risk and capital trigger metrics.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57925" y="1024830"/>
            <a:ext cx="207911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💵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6257925" y="1482030"/>
            <a:ext cx="20791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Money-market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257925" y="1824930"/>
            <a:ext cx="20383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Discount notes, repos, commercial paper, and money market instruments.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47725" y="3307736"/>
            <a:ext cx="207911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📦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847725" y="3764936"/>
            <a:ext cx="20791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Structured credit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7725" y="4091880"/>
            <a:ext cx="20383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PIK bonds, ABS or MBS tranches, CLO tranches, and leveraged loans.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52825" y="3345409"/>
            <a:ext cx="207911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📈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3552825" y="3769894"/>
            <a:ext cx="20791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Equity-linked notes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552825" y="4103727"/>
            <a:ext cx="2038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Barrier convertibles, discount certificates, convertibles, and autocallables.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57925" y="3300878"/>
            <a:ext cx="207911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🌍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6278308" y="3764934"/>
            <a:ext cx="20383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Inflation and index linked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278308" y="4091880"/>
            <a:ext cx="2038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Government linkers, index-linked notes, and capital-protected structures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680"/>
            <a:ext cx="2252546" cy="685800"/>
          </a:xfrm>
          <a:prstGeom prst="roundRect">
            <a:avLst>
              <a:gd name="adj" fmla="val 289236553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lIns="114300" tIns="114300" rIns="114300" bIns="114300" rtlCol="0" anchor="t">
            <a:no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9FB0C7"/>
                </a:solidFill>
                <a:ea typeface="ui-sans-serif" pitchFamily="34" charset="-122"/>
                <a:cs typeface="ui-sans-serif" pitchFamily="34" charset="-120"/>
              </a:rPr>
              <a:t>How it works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939230"/>
            <a:ext cx="1462980" cy="2762250"/>
          </a:xfrm>
          <a:prstGeom prst="roundRect">
            <a:avLst>
              <a:gd name="adj" fmla="val 100004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224980" y="1939230"/>
            <a:ext cx="1462980" cy="2762250"/>
          </a:xfrm>
          <a:prstGeom prst="roundRect">
            <a:avLst>
              <a:gd name="adj" fmla="val 100004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840361" y="1939230"/>
            <a:ext cx="1463129" cy="2762250"/>
          </a:xfrm>
          <a:prstGeom prst="roundRect">
            <a:avLst>
              <a:gd name="adj" fmla="val 99994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55890" y="1939230"/>
            <a:ext cx="1462980" cy="2762250"/>
          </a:xfrm>
          <a:prstGeom prst="roundRect">
            <a:avLst>
              <a:gd name="adj" fmla="val 100004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71271" y="1939230"/>
            <a:ext cx="1463129" cy="2762250"/>
          </a:xfrm>
          <a:prstGeom prst="roundRect">
            <a:avLst>
              <a:gd name="adj" fmla="val 99994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48630"/>
            <a:ext cx="8083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F8FAF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Simple architecture, clear workflow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809625" y="2139255"/>
            <a:ext cx="10841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1️⃣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809625" y="2596455"/>
            <a:ext cx="1084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Asset JSON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9625" y="2901255"/>
            <a:ext cx="106293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Each instrument is stored as a JSON definition, usually one per ISIN.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25005" y="2139255"/>
            <a:ext cx="10841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2️⃣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2425005" y="2596455"/>
            <a:ext cx="1084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Curves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5005" y="2901255"/>
            <a:ext cx="10629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Benchmark discount curves are read from the swap curve catalogue.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40386" y="2139255"/>
            <a:ext cx="108434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3️⃣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4040386" y="2596455"/>
            <a:ext cx="10843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Dispatcher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40386" y="2901255"/>
            <a:ext cx="106307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root pricer routes the request based on the model field.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55915" y="2139255"/>
            <a:ext cx="10841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4️⃣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5655915" y="2596455"/>
            <a:ext cx="1084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API layer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55915" y="2901255"/>
            <a:ext cx="10629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FastAPI exposes pricing, data, and model-management endpoints.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271296" y="2139255"/>
            <a:ext cx="108434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5️⃣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7271296" y="2596455"/>
            <a:ext cx="10843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Frontend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271296" y="2901255"/>
            <a:ext cx="1063079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React provides portfolio views, editing screens, and settings pages.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0" y="1325680"/>
            <a:ext cx="3848100" cy="3676650"/>
          </a:xfrm>
          <a:prstGeom prst="roundRect">
            <a:avLst>
              <a:gd name="adj" fmla="val 39793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0" y="1325680"/>
            <a:ext cx="3848100" cy="3676650"/>
          </a:xfrm>
          <a:prstGeom prst="roundRect">
            <a:avLst>
              <a:gd name="adj" fmla="val 39793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713678"/>
            <a:ext cx="7924800" cy="80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400"/>
              </a:lnSpc>
              <a:buNone/>
            </a:pPr>
            <a:r>
              <a:rPr lang="en-US" sz="2400" b="1" dirty="0">
                <a:solidFill>
                  <a:srgbClr val="F8FAF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Connected to market data and persistence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23925" y="2139255"/>
            <a:ext cx="32838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9A84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External providers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23925" y="2558355"/>
            <a:ext cx="3219450" cy="2628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Refinitiv Datastream for CDS spread histories used in CLN calibration.</a:t>
            </a:r>
            <a:endParaRPr lang="en-US" sz="13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CBonds for bond reference data and prices across fixed-income assets.</a:t>
            </a:r>
            <a:endParaRPr lang="en-US" sz="13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EODHD for equity price histories that support structured-product underlyings.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000625" y="2139255"/>
            <a:ext cx="32838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9A84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Internal storage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00625" y="2558355"/>
            <a:ext cx="321945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MySQL stores assets, prices, and model schemas as JSON payloads.</a:t>
            </a:r>
            <a:endParaRPr lang="en-US" sz="13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Stored procedures handle writes and updates.</a:t>
            </a:r>
            <a:endParaRPr lang="en-US" sz="13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API layer becomes the operational bridge between pricing logic and user workflows.</a:t>
            </a:r>
            <a:endParaRPr lang="en-US" sz="1350" dirty="0"/>
          </a:p>
        </p:txBody>
      </p:sp>
      <p:sp>
        <p:nvSpPr>
          <p:cNvPr id="10" name="Text 0">
            <a:extLst>
              <a:ext uri="{FF2B5EF4-FFF2-40B4-BE49-F238E27FC236}">
                <a16:creationId xmlns:a16="http://schemas.microsoft.com/office/drawing/2014/main" id="{FAFC8C38-3C29-E6B5-FF61-5DE6DC977455}"/>
              </a:ext>
            </a:extLst>
          </p:cNvPr>
          <p:cNvSpPr/>
          <p:nvPr/>
        </p:nvSpPr>
        <p:spPr>
          <a:xfrm>
            <a:off x="609600" y="167037"/>
            <a:ext cx="2252546" cy="685800"/>
          </a:xfrm>
          <a:prstGeom prst="roundRect">
            <a:avLst>
              <a:gd name="adj" fmla="val 289236553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lIns="114300" tIns="114300" rIns="114300" bIns="114300" rtlCol="0" anchor="t">
            <a:no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9FB0C7"/>
                </a:solidFill>
                <a:ea typeface="ui-sans-serif" pitchFamily="34" charset="-122"/>
                <a:cs typeface="ui-sans-serif" pitchFamily="34" charset="-120"/>
              </a:rPr>
              <a:t>Data layer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48832" y="194370"/>
            <a:ext cx="1646337" cy="316111"/>
          </a:xfrm>
          <a:prstGeom prst="roundRect">
            <a:avLst>
              <a:gd name="adj" fmla="val 289236553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lIns="114300" tIns="114300" rIns="114300" bIns="114300" rtlCol="0" anchor="t"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0C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Why it matters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1691580"/>
            <a:ext cx="2489150" cy="3257550"/>
          </a:xfrm>
          <a:prstGeom prst="roundRect">
            <a:avLst>
              <a:gd name="adj" fmla="val 58777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327350" y="1691580"/>
            <a:ext cx="2489150" cy="3257550"/>
          </a:xfrm>
          <a:prstGeom prst="roundRect">
            <a:avLst>
              <a:gd name="adj" fmla="val 58777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45101" y="1691580"/>
            <a:ext cx="2489299" cy="3257550"/>
          </a:xfrm>
          <a:prstGeom prst="roundRect">
            <a:avLst>
              <a:gd name="adj" fmla="val 58773"/>
            </a:avLst>
          </a:prstGeom>
          <a:solidFill>
            <a:srgbClr val="1A1A2E">
              <a:alpha val="8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0352" y="700980"/>
            <a:ext cx="8083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F8FAF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business value in plain language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05320" y="2005905"/>
            <a:ext cx="1897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C9A84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17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23925" y="2615505"/>
            <a:ext cx="186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Broader coverage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23925" y="3263205"/>
            <a:ext cx="1860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Supports a wide set of products in one framework, from simple bonds to autocallables and securitized assets.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23070" y="2005905"/>
            <a:ext cx="1897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C9A84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API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641675" y="2615505"/>
            <a:ext cx="186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Operational usability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41675" y="3263205"/>
            <a:ext cx="18605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Can be integrated into workflows, dashboards, and downstream reporting rather than staying as a desktop-only calculator.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0819" y="2005905"/>
            <a:ext cx="18978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C9A84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JSON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340819" y="2615505"/>
            <a:ext cx="189786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Scalable setup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59426" y="2996505"/>
            <a:ext cx="186064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Standardized inputs and reusable schemas make the platform easier to extend, test, and govern over time.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486</Words>
  <Application>Microsoft Macintosh PowerPoint</Application>
  <PresentationFormat>On-screen Show (16:9)</PresentationFormat>
  <Paragraphs>77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Calibri</vt:lpstr>
      <vt:lpstr>Playfair Display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Andrea Luzzi</cp:lastModifiedBy>
  <cp:revision>5</cp:revision>
  <dcterms:created xsi:type="dcterms:W3CDTF">2026-06-26T13:01:27Z</dcterms:created>
  <dcterms:modified xsi:type="dcterms:W3CDTF">2026-06-26T13:17:00Z</dcterms:modified>
</cp:coreProperties>
</file>