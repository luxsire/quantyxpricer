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15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2391" y="739342"/>
            <a:ext cx="8083296" cy="11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80"/>
              </a:lnSpc>
              <a:buNone/>
            </a:pPr>
            <a:r>
              <a:rPr lang="en-US" sz="6120" b="1" dirty="0" err="1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Quantyx</a:t>
            </a:r>
            <a:r>
              <a:rPr lang="en-US" sz="6120" b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6120" b="1" dirty="0" err="1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Pricer</a:t>
            </a:r>
            <a:endParaRPr lang="en-US" sz="6120" dirty="0"/>
          </a:p>
        </p:txBody>
      </p:sp>
      <p:sp>
        <p:nvSpPr>
          <p:cNvPr id="4" name="Text 2"/>
          <p:cNvSpPr/>
          <p:nvPr/>
        </p:nvSpPr>
        <p:spPr>
          <a:xfrm>
            <a:off x="530352" y="3544342"/>
            <a:ext cx="808329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9FB0C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Business-friendly platform overview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914400" y="4146203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non-technical presentation of the pricing platform, its product coverage, architecture, and why it matters for portfolio teams, structuring desks, financial centers and product control.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901005"/>
            <a:ext cx="1158329" cy="316111"/>
          </a:xfrm>
          <a:prstGeom prst="roundRect">
            <a:avLst>
              <a:gd name="adj" fmla="val 28923655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FB0C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99" y="882769"/>
            <a:ext cx="3848100" cy="2107966"/>
          </a:xfrm>
          <a:prstGeom prst="roundRect">
            <a:avLst>
              <a:gd name="adj" fmla="val 6453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882769"/>
            <a:ext cx="3848100" cy="2107966"/>
          </a:xfrm>
          <a:prstGeom prst="roundRect">
            <a:avLst>
              <a:gd name="adj" fmla="val 6453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7002" y="3101199"/>
            <a:ext cx="3848100" cy="1887038"/>
          </a:xfrm>
          <a:prstGeom prst="roundRect">
            <a:avLst>
              <a:gd name="adj" fmla="val 6453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38339" y="3101199"/>
            <a:ext cx="3848100" cy="1887038"/>
          </a:xfrm>
          <a:prstGeom prst="roundRect">
            <a:avLst>
              <a:gd name="adj" fmla="val 6453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1639" y="-41970"/>
            <a:ext cx="7924800" cy="94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platform for fixed-income and structured products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39967" y="1205118"/>
            <a:ext cx="29873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7864" y="1539736"/>
            <a:ext cx="32956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QuantyxPricer is a QuantLib-based pricing workspace that routes each instrument to the right model using a simple </a:t>
            </a:r>
            <a:r>
              <a:rPr lang="en-US" sz="1350" dirty="0">
                <a:solidFill>
                  <a:srgbClr val="E8D5B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</a:t>
            </a: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field in its JSON definition.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72837" y="1207937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62525" y="1545665"/>
            <a:ext cx="329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platform combines Python, QuantLib, FastAPI, React, and MySQL, giving it both pricing-engine depth and operational usability.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2324" y="3365707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is used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7864" y="3751338"/>
            <a:ext cx="32956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prices instruments, reads benchmark curves, stores asset definitions, and exposes pricing and data-management workflows through REST APIs and a frontend.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72837" y="3365707"/>
            <a:ext cx="336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today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14564" y="3751338"/>
            <a:ext cx="329565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documentation describes 17 priceable instrument types across 12 model files and a backend with more than 20 endpoints.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710505"/>
            <a:ext cx="1665238" cy="316111"/>
          </a:xfrm>
          <a:prstGeom prst="roundRect">
            <a:avLst>
              <a:gd name="adj" fmla="val 28923655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FB0C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86705"/>
            <a:ext cx="2514600" cy="2190750"/>
          </a:xfrm>
          <a:prstGeom prst="roundRect">
            <a:avLst>
              <a:gd name="adj" fmla="val 6678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14700" y="786705"/>
            <a:ext cx="2514600" cy="2190750"/>
          </a:xfrm>
          <a:prstGeom prst="roundRect">
            <a:avLst>
              <a:gd name="adj" fmla="val 6678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19800" y="786705"/>
            <a:ext cx="2514600" cy="2190750"/>
          </a:xfrm>
          <a:prstGeom prst="roundRect">
            <a:avLst>
              <a:gd name="adj" fmla="val 6678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091755"/>
            <a:ext cx="2514600" cy="1975545"/>
          </a:xfrm>
          <a:prstGeom prst="roundRect">
            <a:avLst>
              <a:gd name="adj" fmla="val 5818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14700" y="3130897"/>
            <a:ext cx="2514600" cy="1936403"/>
          </a:xfrm>
          <a:prstGeom prst="roundRect">
            <a:avLst>
              <a:gd name="adj" fmla="val 5818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19800" y="3108638"/>
            <a:ext cx="2514600" cy="1975545"/>
          </a:xfrm>
          <a:prstGeom prst="roundRect">
            <a:avLst>
              <a:gd name="adj" fmla="val 5818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-18157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kinds of products can it handle?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47725" y="1024830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🏦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47725" y="148203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Rate-based bonds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7725" y="1824930"/>
            <a:ext cx="2038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Fixed, floating, callable, and investment-grade bonds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2825" y="1024830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🛡️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3552825" y="148203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Credit products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52825" y="1824930"/>
            <a:ext cx="2038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CLNs plus AT1 or CoCo instruments with extension risk and capital trigger metrics.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7925" y="1024830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💵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257925" y="148203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Money-market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57925" y="1824930"/>
            <a:ext cx="2038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Discount notes, repos, commercial paper, and money market instruments.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7725" y="3307736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📦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47725" y="3764936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credit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7725" y="4091880"/>
            <a:ext cx="2038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PIK bonds, ABS or MBS tranches, CLO tranches, and leveraged loans.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52825" y="3345409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3552825" y="3769894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Equity-linked notes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552825" y="4103727"/>
            <a:ext cx="2038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Barrier convertibles, discount certificates, convertibles, and autocallables.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7925" y="3300878"/>
            <a:ext cx="20791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🌍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278308" y="3764934"/>
            <a:ext cx="2038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Inflation and index linked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78308" y="4091880"/>
            <a:ext cx="2038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Government linkers, index-linked notes, and capital-protected structures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680"/>
            <a:ext cx="2252546" cy="685800"/>
          </a:xfrm>
          <a:prstGeom prst="roundRect">
            <a:avLst>
              <a:gd name="adj" fmla="val 28923655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9FB0C7"/>
                </a:solidFill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9230"/>
            <a:ext cx="1462980" cy="2762250"/>
          </a:xfrm>
          <a:prstGeom prst="roundRect">
            <a:avLst>
              <a:gd name="adj" fmla="val 10000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24980" y="1939230"/>
            <a:ext cx="1462980" cy="2762250"/>
          </a:xfrm>
          <a:prstGeom prst="roundRect">
            <a:avLst>
              <a:gd name="adj" fmla="val 10000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40361" y="1939230"/>
            <a:ext cx="1463129" cy="2762250"/>
          </a:xfrm>
          <a:prstGeom prst="roundRect">
            <a:avLst>
              <a:gd name="adj" fmla="val 999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55890" y="1939230"/>
            <a:ext cx="1462980" cy="2762250"/>
          </a:xfrm>
          <a:prstGeom prst="roundRect">
            <a:avLst>
              <a:gd name="adj" fmla="val 10000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1271" y="1939230"/>
            <a:ext cx="1463129" cy="2762250"/>
          </a:xfrm>
          <a:prstGeom prst="roundRect">
            <a:avLst>
              <a:gd name="adj" fmla="val 99994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4863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Calibri" panose="020F0502020204030204" pitchFamily="34" charset="0"/>
                <a:ea typeface="Playfair Display" pitchFamily="34" charset="-122"/>
                <a:cs typeface="Calibri" panose="020F0502020204030204" pitchFamily="34" charset="0"/>
              </a:rPr>
              <a:t>Simple architecture, clear workflow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9625" y="2139255"/>
            <a:ext cx="1084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1️⃣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09625" y="2596455"/>
            <a:ext cx="1084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Asset </a:t>
            </a: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JSON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9625" y="2901255"/>
            <a:ext cx="106293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instrument is stored as a JSON definition, usually one per ISIN.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5005" y="2139255"/>
            <a:ext cx="1084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2️⃣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425005" y="2596455"/>
            <a:ext cx="1084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Curves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25005" y="2901255"/>
            <a:ext cx="10629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Benchmark discount curves are read from the swap curve catalogue.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0386" y="2139255"/>
            <a:ext cx="10843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3️⃣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040386" y="2596455"/>
            <a:ext cx="1084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Dispatcher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40386" y="2901255"/>
            <a:ext cx="10630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root pricer routes the request based on the model field.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55915" y="2139255"/>
            <a:ext cx="1084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4️⃣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655915" y="2596455"/>
            <a:ext cx="1084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</a:t>
            </a: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layer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55915" y="2901255"/>
            <a:ext cx="10629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 exposes pricing, data, and model-management endpoints.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71296" y="2139255"/>
            <a:ext cx="10843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5️⃣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271296" y="2596455"/>
            <a:ext cx="10843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Frontend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71296" y="2901255"/>
            <a:ext cx="10630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provides portfolio views, editing screens, and settings pages.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1325680"/>
            <a:ext cx="3848100" cy="3676650"/>
          </a:xfrm>
          <a:prstGeom prst="roundRect">
            <a:avLst>
              <a:gd name="adj" fmla="val 397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1325680"/>
            <a:ext cx="3848100" cy="3676650"/>
          </a:xfrm>
          <a:prstGeom prst="roundRect">
            <a:avLst>
              <a:gd name="adj" fmla="val 3979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713678"/>
            <a:ext cx="7924800" cy="80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ea typeface="Playfair Display" pitchFamily="34" charset="-122"/>
                <a:cs typeface="Playfair Display" pitchFamily="34" charset="-120"/>
              </a:rPr>
              <a:t>Connected to market data and persistence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3925" y="213925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External providers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3925" y="2558355"/>
            <a:ext cx="321945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Refinitiv Datastream for CDS spread histories used in CLN calibration.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CBonds for bond reference data and prices across fixed-income assets.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EODHD for equity price histories that support structured-product underlyings.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00625" y="2139255"/>
            <a:ext cx="3283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9A84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Internal storage</a:t>
            </a: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00625" y="2558355"/>
            <a:ext cx="32194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MySQL stores assets, prices, and model schemas as JSON payloads.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Stored procedures handle writes and updates.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BE4F0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The API layer becomes the operational bridge between pricing logic and user workflows.</a:t>
            </a:r>
            <a:endParaRPr lang="en-US" sz="13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FAFC8C38-3C29-E6B5-FF61-5DE6DC977455}"/>
              </a:ext>
            </a:extLst>
          </p:cNvPr>
          <p:cNvSpPr/>
          <p:nvPr/>
        </p:nvSpPr>
        <p:spPr>
          <a:xfrm>
            <a:off x="609600" y="205912"/>
            <a:ext cx="2252546" cy="685800"/>
          </a:xfrm>
          <a:prstGeom prst="roundRect">
            <a:avLst>
              <a:gd name="adj" fmla="val 28923655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9FB0C7"/>
                </a:solidFill>
                <a:ea typeface="ui-sans-serif" pitchFamily="34" charset="-122"/>
                <a:cs typeface="ui-sans-serif" pitchFamily="34" charset="-120"/>
              </a:rPr>
              <a:t>Data layer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181" y="194369"/>
            <a:ext cx="1945219" cy="542925"/>
          </a:xfrm>
          <a:prstGeom prst="roundRect">
            <a:avLst>
              <a:gd name="adj" fmla="val 28923655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lIns="114300" tIns="114300" rIns="114300" bIns="11430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9FB0C7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Why</a:t>
            </a:r>
            <a:r>
              <a:rPr lang="en-US" sz="1600" dirty="0">
                <a:solidFill>
                  <a:srgbClr val="9FB0C7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 it matters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691580"/>
            <a:ext cx="2489150" cy="3257550"/>
          </a:xfrm>
          <a:prstGeom prst="roundRect">
            <a:avLst>
              <a:gd name="adj" fmla="val 587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1691580"/>
            <a:ext cx="2489150" cy="3257550"/>
          </a:xfrm>
          <a:prstGeom prst="roundRect">
            <a:avLst>
              <a:gd name="adj" fmla="val 5877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1691580"/>
            <a:ext cx="2489299" cy="3257550"/>
          </a:xfrm>
          <a:prstGeom prst="roundRect">
            <a:avLst>
              <a:gd name="adj" fmla="val 58773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352" y="700980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Calibri" panose="020F0502020204030204" pitchFamily="34" charset="0"/>
                <a:ea typeface="Playfair Display" pitchFamily="34" charset="-122"/>
                <a:cs typeface="Calibri" panose="020F0502020204030204" pitchFamily="34" charset="0"/>
              </a:rPr>
              <a:t>The business value in plain language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5320" y="2005905"/>
            <a:ext cx="1897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9A84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17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3925" y="2615505"/>
            <a:ext cx="186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Broader coverage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3925" y="3263205"/>
            <a:ext cx="186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Supports a wide set of products in one framework, from simple bonds to autocallables and securitized assets.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23070" y="2005905"/>
            <a:ext cx="1897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9A84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API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41675" y="2615505"/>
            <a:ext cx="186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usability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1675" y="3263205"/>
            <a:ext cx="1860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integrated into workflows, dashboards, and downstream reporting rather than staying as a desktop-only calculator.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0819" y="2005905"/>
            <a:ext cx="1897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9A84C"/>
                </a:solidFill>
                <a:latin typeface="Calibri" panose="020F0502020204030204" pitchFamily="34" charset="0"/>
                <a:ea typeface="ui-sans-serif" pitchFamily="34" charset="-122"/>
                <a:cs typeface="Calibri" panose="020F0502020204030204" pitchFamily="34" charset="0"/>
              </a:rPr>
              <a:t>JSON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40819" y="2615505"/>
            <a:ext cx="18978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9426" y="2996505"/>
            <a:ext cx="18606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BE4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Standardized inputs and reusable schemas make the platform easier to extend, test, and govern over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486</Words>
  <Application>Microsoft Macintosh PowerPoint</Application>
  <PresentationFormat>On-screen Show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Playfair Display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Andrea Luzzi</cp:lastModifiedBy>
  <cp:revision>9</cp:revision>
  <dcterms:created xsi:type="dcterms:W3CDTF">2026-06-26T13:01:27Z</dcterms:created>
  <dcterms:modified xsi:type="dcterms:W3CDTF">2026-06-26T14:14:23Z</dcterms:modified>
</cp:coreProperties>
</file>